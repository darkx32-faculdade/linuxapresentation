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galin" charset="1" panose="00000500000000000000"/>
      <p:regular r:id="rId13"/>
    </p:embeddedFont>
    <p:embeddedFont>
      <p:font typeface="Poppins Bold" charset="1" panose="00000800000000000000"/>
      <p:regular r:id="rId14"/>
    </p:embeddedFont>
    <p:embeddedFont>
      <p:font typeface="Horizon" charset="1" panose="02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262" y="155578"/>
            <a:ext cx="9975845" cy="9975845"/>
          </a:xfrm>
          <a:custGeom>
            <a:avLst/>
            <a:gdLst/>
            <a:ahLst/>
            <a:cxnLst/>
            <a:rect r="r" b="b" t="t" l="l"/>
            <a:pathLst>
              <a:path h="9975845" w="9975845">
                <a:moveTo>
                  <a:pt x="0" y="0"/>
                </a:moveTo>
                <a:lnTo>
                  <a:pt x="9975845" y="0"/>
                </a:lnTo>
                <a:lnTo>
                  <a:pt x="9975845" y="9975844"/>
                </a:lnTo>
                <a:lnTo>
                  <a:pt x="0" y="9975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7442657" y="0"/>
            <a:ext cx="845343" cy="10287000"/>
            <a:chOff x="0" y="0"/>
            <a:chExt cx="222642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64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2642">
                  <a:moveTo>
                    <a:pt x="0" y="0"/>
                  </a:moveTo>
                  <a:lnTo>
                    <a:pt x="222642" y="0"/>
                  </a:lnTo>
                  <a:lnTo>
                    <a:pt x="2226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E3E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264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31272" y="4116444"/>
            <a:ext cx="9625456" cy="1844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Terminal Linux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186" t="0" r="-341497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5595" y="2502664"/>
            <a:ext cx="13256811" cy="6214430"/>
            <a:chOff x="0" y="0"/>
            <a:chExt cx="3491506" cy="163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91506" cy="1636722"/>
            </a:xfrm>
            <a:custGeom>
              <a:avLst/>
              <a:gdLst/>
              <a:ahLst/>
              <a:cxnLst/>
              <a:rect r="r" b="b" t="t" l="l"/>
              <a:pathLst>
                <a:path h="1636722" w="3491506">
                  <a:moveTo>
                    <a:pt x="29565" y="0"/>
                  </a:moveTo>
                  <a:lnTo>
                    <a:pt x="3461941" y="0"/>
                  </a:lnTo>
                  <a:cubicBezTo>
                    <a:pt x="3469782" y="0"/>
                    <a:pt x="3477302" y="3115"/>
                    <a:pt x="3482847" y="8659"/>
                  </a:cubicBezTo>
                  <a:cubicBezTo>
                    <a:pt x="3488391" y="14204"/>
                    <a:pt x="3491506" y="21724"/>
                    <a:pt x="3491506" y="29565"/>
                  </a:cubicBezTo>
                  <a:lnTo>
                    <a:pt x="3491506" y="1607158"/>
                  </a:lnTo>
                  <a:cubicBezTo>
                    <a:pt x="3491506" y="1614999"/>
                    <a:pt x="3488391" y="1622519"/>
                    <a:pt x="3482847" y="1628063"/>
                  </a:cubicBezTo>
                  <a:cubicBezTo>
                    <a:pt x="3477302" y="1633607"/>
                    <a:pt x="3469782" y="1636722"/>
                    <a:pt x="3461941" y="1636722"/>
                  </a:cubicBezTo>
                  <a:lnTo>
                    <a:pt x="29565" y="1636722"/>
                  </a:lnTo>
                  <a:cubicBezTo>
                    <a:pt x="21724" y="1636722"/>
                    <a:pt x="14204" y="1633607"/>
                    <a:pt x="8659" y="1628063"/>
                  </a:cubicBezTo>
                  <a:cubicBezTo>
                    <a:pt x="3115" y="1622519"/>
                    <a:pt x="0" y="1614999"/>
                    <a:pt x="0" y="1607158"/>
                  </a:cubicBezTo>
                  <a:lnTo>
                    <a:pt x="0" y="29565"/>
                  </a:lnTo>
                  <a:cubicBezTo>
                    <a:pt x="0" y="21724"/>
                    <a:pt x="3115" y="14204"/>
                    <a:pt x="8659" y="8659"/>
                  </a:cubicBezTo>
                  <a:cubicBezTo>
                    <a:pt x="14204" y="3115"/>
                    <a:pt x="21724" y="0"/>
                    <a:pt x="29565" y="0"/>
                  </a:cubicBezTo>
                  <a:close/>
                </a:path>
              </a:pathLst>
            </a:custGeom>
            <a:solidFill>
              <a:srgbClr val="252526"/>
            </a:solidFill>
            <a:ln w="3810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91506" cy="1674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72633" y="4299564"/>
            <a:ext cx="2620631" cy="2620631"/>
          </a:xfrm>
          <a:custGeom>
            <a:avLst/>
            <a:gdLst/>
            <a:ahLst/>
            <a:cxnLst/>
            <a:rect r="r" b="b" t="t" l="l"/>
            <a:pathLst>
              <a:path h="2620631" w="2620631">
                <a:moveTo>
                  <a:pt x="0" y="0"/>
                </a:moveTo>
                <a:lnTo>
                  <a:pt x="2620631" y="0"/>
                </a:lnTo>
                <a:lnTo>
                  <a:pt x="2620631" y="2620631"/>
                </a:lnTo>
                <a:lnTo>
                  <a:pt x="0" y="2620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786013" y="5056255"/>
            <a:ext cx="1951171" cy="1107249"/>
            <a:chOff x="0" y="0"/>
            <a:chExt cx="812800" cy="4612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461247"/>
            </a:xfrm>
            <a:custGeom>
              <a:avLst/>
              <a:gdLst/>
              <a:ahLst/>
              <a:cxnLst/>
              <a:rect r="r" b="b" t="t" l="l"/>
              <a:pathLst>
                <a:path h="461247" w="812800">
                  <a:moveTo>
                    <a:pt x="812800" y="23062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58047"/>
                  </a:lnTo>
                  <a:lnTo>
                    <a:pt x="406400" y="258047"/>
                  </a:lnTo>
                  <a:lnTo>
                    <a:pt x="406400" y="461247"/>
                  </a:lnTo>
                  <a:lnTo>
                    <a:pt x="812800" y="230624"/>
                  </a:ln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5100"/>
              <a:ext cx="711200" cy="92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32434" y="4299564"/>
            <a:ext cx="2620631" cy="2620631"/>
          </a:xfrm>
          <a:custGeom>
            <a:avLst/>
            <a:gdLst/>
            <a:ahLst/>
            <a:cxnLst/>
            <a:rect r="r" b="b" t="t" l="l"/>
            <a:pathLst>
              <a:path h="2620631" w="2620631">
                <a:moveTo>
                  <a:pt x="0" y="0"/>
                </a:moveTo>
                <a:lnTo>
                  <a:pt x="2620631" y="0"/>
                </a:lnTo>
                <a:lnTo>
                  <a:pt x="2620631" y="2620631"/>
                </a:lnTo>
                <a:lnTo>
                  <a:pt x="0" y="2620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grpSp>
        <p:nvGrpSpPr>
          <p:cNvPr name="Group 10" id="10"/>
          <p:cNvGrpSpPr/>
          <p:nvPr/>
        </p:nvGrpSpPr>
        <p:grpSpPr>
          <a:xfrm rot="0">
            <a:off x="10548315" y="5056255"/>
            <a:ext cx="1951171" cy="1107249"/>
            <a:chOff x="0" y="0"/>
            <a:chExt cx="812800" cy="461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61247"/>
            </a:xfrm>
            <a:custGeom>
              <a:avLst/>
              <a:gdLst/>
              <a:ahLst/>
              <a:cxnLst/>
              <a:rect r="r" b="b" t="t" l="l"/>
              <a:pathLst>
                <a:path h="461247" w="812800">
                  <a:moveTo>
                    <a:pt x="812800" y="23062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58047"/>
                  </a:lnTo>
                  <a:lnTo>
                    <a:pt x="406400" y="258047"/>
                  </a:lnTo>
                  <a:lnTo>
                    <a:pt x="406400" y="461247"/>
                  </a:lnTo>
                  <a:lnTo>
                    <a:pt x="812800" y="230624"/>
                  </a:ln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65100"/>
              <a:ext cx="711200" cy="92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9186" t="0" r="-341497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94736" y="4299564"/>
            <a:ext cx="2620631" cy="2620631"/>
          </a:xfrm>
          <a:custGeom>
            <a:avLst/>
            <a:gdLst/>
            <a:ahLst/>
            <a:cxnLst/>
            <a:rect r="r" b="b" t="t" l="l"/>
            <a:pathLst>
              <a:path h="2620631" w="2620631">
                <a:moveTo>
                  <a:pt x="0" y="0"/>
                </a:moveTo>
                <a:lnTo>
                  <a:pt x="2620631" y="0"/>
                </a:lnTo>
                <a:lnTo>
                  <a:pt x="2620631" y="2620631"/>
                </a:lnTo>
                <a:lnTo>
                  <a:pt x="0" y="2620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66876" y="-685"/>
            <a:ext cx="595424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 que é?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89545" y="2578000"/>
            <a:ext cx="1270640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Terminal do Linux não é somente algo visual ou uma tela de “hacker”, é algo muito mais profundo, se trata de um interface embutida no sistema operacional para facilitar a comunicação entre o usuário e o Kernel.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Vamos entender isso mais a fundo: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6006" y="7031320"/>
            <a:ext cx="2913885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Terminal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53262" y="7031320"/>
            <a:ext cx="1781477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SHELL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48695" y="7031320"/>
            <a:ext cx="2312713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KERNEL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47711" y="2468496"/>
            <a:ext cx="4504286" cy="4453778"/>
          </a:xfrm>
          <a:custGeom>
            <a:avLst/>
            <a:gdLst/>
            <a:ahLst/>
            <a:cxnLst/>
            <a:rect r="r" b="b" t="t" l="l"/>
            <a:pathLst>
              <a:path h="4453778" w="4504286">
                <a:moveTo>
                  <a:pt x="0" y="0"/>
                </a:moveTo>
                <a:lnTo>
                  <a:pt x="4504286" y="0"/>
                </a:lnTo>
                <a:lnTo>
                  <a:pt x="4504286" y="4453778"/>
                </a:lnTo>
                <a:lnTo>
                  <a:pt x="0" y="445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5" t="-4125" r="0" b="-1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55417" y="86617"/>
            <a:ext cx="13177165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 que seria o shell?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22451" y="2591430"/>
            <a:ext cx="3354807" cy="375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2"/>
              </a:lnSpc>
              <a:spcBef>
                <a:spcPct val="0"/>
              </a:spcBef>
            </a:pPr>
            <a:r>
              <a:rPr lang="en-US" b="true" sz="30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 Shell é o tradutor ou interpretador, que dirá para o Kernel o comando que se deve executar,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827471" y="3843127"/>
            <a:ext cx="4628383" cy="4628383"/>
          </a:xfrm>
          <a:custGeom>
            <a:avLst/>
            <a:gdLst/>
            <a:ahLst/>
            <a:cxnLst/>
            <a:rect r="r" b="b" t="t" l="l"/>
            <a:pathLst>
              <a:path h="4628383" w="4628383">
                <a:moveTo>
                  <a:pt x="0" y="0"/>
                </a:moveTo>
                <a:lnTo>
                  <a:pt x="4628383" y="0"/>
                </a:lnTo>
                <a:lnTo>
                  <a:pt x="4628383" y="4628383"/>
                </a:lnTo>
                <a:lnTo>
                  <a:pt x="0" y="462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11906" y="5203208"/>
            <a:ext cx="4628383" cy="4628383"/>
          </a:xfrm>
          <a:custGeom>
            <a:avLst/>
            <a:gdLst/>
            <a:ahLst/>
            <a:cxnLst/>
            <a:rect r="r" b="b" t="t" l="l"/>
            <a:pathLst>
              <a:path h="4628383" w="4628383">
                <a:moveTo>
                  <a:pt x="0" y="0"/>
                </a:moveTo>
                <a:lnTo>
                  <a:pt x="4628383" y="0"/>
                </a:lnTo>
                <a:lnTo>
                  <a:pt x="4628383" y="4628383"/>
                </a:lnTo>
                <a:lnTo>
                  <a:pt x="0" y="4628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30221" y="3914994"/>
            <a:ext cx="3427559" cy="411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  <a:spcBef>
                <a:spcPct val="0"/>
              </a:spcBef>
            </a:pPr>
            <a:r>
              <a:rPr lang="en-US" b="true" sz="29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é isso que você está pensando, quando digitamos algo no terminal, estamos programando algo.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12318" y="5935272"/>
            <a:ext cx="3427559" cy="308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2"/>
              </a:lnSpc>
              <a:spcBef>
                <a:spcPct val="0"/>
              </a:spcBef>
            </a:pPr>
            <a:r>
              <a:rPr lang="en-US" b="true" sz="292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Provando que o Terminal é algo muito mais complexo e útil além de ser só “assustador”.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186" t="0" r="-341497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53223" y="4114115"/>
            <a:ext cx="11581554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O que é o kernel?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9186" t="0" r="-341497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5512" y="827450"/>
            <a:ext cx="14636976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Exemplos de comandos</a:t>
            </a:r>
          </a:p>
        </p:txBody>
      </p:sp>
      <p:sp>
        <p:nvSpPr>
          <p:cNvPr name="TextBox 3" id="3"/>
          <p:cNvSpPr txBox="true"/>
          <p:nvPr/>
        </p:nvSpPr>
        <p:spPr>
          <a:xfrm rot="-1156268">
            <a:off x="3200113" y="3557805"/>
            <a:ext cx="753683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LS</a:t>
            </a:r>
          </a:p>
        </p:txBody>
      </p:sp>
      <p:sp>
        <p:nvSpPr>
          <p:cNvPr name="TextBox 4" id="4"/>
          <p:cNvSpPr txBox="true"/>
          <p:nvPr/>
        </p:nvSpPr>
        <p:spPr>
          <a:xfrm rot="746505">
            <a:off x="13761018" y="3599795"/>
            <a:ext cx="1447152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CAT</a:t>
            </a:r>
          </a:p>
        </p:txBody>
      </p:sp>
      <p:sp>
        <p:nvSpPr>
          <p:cNvPr name="TextBox 5" id="5"/>
          <p:cNvSpPr txBox="true"/>
          <p:nvPr/>
        </p:nvSpPr>
        <p:spPr>
          <a:xfrm rot="755207">
            <a:off x="3232275" y="5965748"/>
            <a:ext cx="1002929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CD</a:t>
            </a:r>
          </a:p>
        </p:txBody>
      </p:sp>
      <p:sp>
        <p:nvSpPr>
          <p:cNvPr name="TextBox 6" id="6"/>
          <p:cNvSpPr txBox="true"/>
          <p:nvPr/>
        </p:nvSpPr>
        <p:spPr>
          <a:xfrm rot="755207">
            <a:off x="11692319" y="5600925"/>
            <a:ext cx="2265272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MKDIR</a:t>
            </a:r>
          </a:p>
        </p:txBody>
      </p:sp>
      <p:sp>
        <p:nvSpPr>
          <p:cNvPr name="TextBox 7" id="7"/>
          <p:cNvSpPr txBox="true"/>
          <p:nvPr/>
        </p:nvSpPr>
        <p:spPr>
          <a:xfrm rot="-373462">
            <a:off x="6009529" y="3999389"/>
            <a:ext cx="1002929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CP</a:t>
            </a:r>
          </a:p>
        </p:txBody>
      </p:sp>
      <p:sp>
        <p:nvSpPr>
          <p:cNvPr name="TextBox 8" id="8"/>
          <p:cNvSpPr txBox="true"/>
          <p:nvPr/>
        </p:nvSpPr>
        <p:spPr>
          <a:xfrm rot="-787193">
            <a:off x="9005178" y="3555667"/>
            <a:ext cx="1776243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GREP</a:t>
            </a:r>
          </a:p>
        </p:txBody>
      </p:sp>
      <p:sp>
        <p:nvSpPr>
          <p:cNvPr name="TextBox 9" id="9"/>
          <p:cNvSpPr txBox="true"/>
          <p:nvPr/>
        </p:nvSpPr>
        <p:spPr>
          <a:xfrm rot="-517774">
            <a:off x="6560586" y="7251889"/>
            <a:ext cx="1133906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RM</a:t>
            </a:r>
          </a:p>
        </p:txBody>
      </p:sp>
      <p:sp>
        <p:nvSpPr>
          <p:cNvPr name="TextBox 10" id="10"/>
          <p:cNvSpPr txBox="true"/>
          <p:nvPr/>
        </p:nvSpPr>
        <p:spPr>
          <a:xfrm rot="755207">
            <a:off x="9652832" y="6979321"/>
            <a:ext cx="1257023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MV</a:t>
            </a:r>
          </a:p>
        </p:txBody>
      </p:sp>
      <p:sp>
        <p:nvSpPr>
          <p:cNvPr name="TextBox 11" id="11"/>
          <p:cNvSpPr txBox="true"/>
          <p:nvPr/>
        </p:nvSpPr>
        <p:spPr>
          <a:xfrm rot="-517774">
            <a:off x="5870659" y="5653252"/>
            <a:ext cx="2513760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TOUCH</a:t>
            </a:r>
          </a:p>
        </p:txBody>
      </p:sp>
      <p:sp>
        <p:nvSpPr>
          <p:cNvPr name="TextBox 12" id="12"/>
          <p:cNvSpPr txBox="true"/>
          <p:nvPr/>
        </p:nvSpPr>
        <p:spPr>
          <a:xfrm rot="-517774">
            <a:off x="13552541" y="7555315"/>
            <a:ext cx="1432535" cy="92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4"/>
              </a:lnSpc>
              <a:spcBef>
                <a:spcPct val="0"/>
              </a:spcBef>
            </a:pPr>
            <a:r>
              <a:rPr lang="en-US" b="true" sz="518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KILL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9186" t="0" r="-341497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3227" y="4357780"/>
            <a:ext cx="9901546" cy="2335270"/>
          </a:xfrm>
          <a:custGeom>
            <a:avLst/>
            <a:gdLst/>
            <a:ahLst/>
            <a:cxnLst/>
            <a:rect r="r" b="b" t="t" l="l"/>
            <a:pathLst>
              <a:path h="2335270" w="9901546">
                <a:moveTo>
                  <a:pt x="0" y="0"/>
                </a:moveTo>
                <a:lnTo>
                  <a:pt x="9901546" y="0"/>
                </a:lnTo>
                <a:lnTo>
                  <a:pt x="9901546" y="2335270"/>
                </a:lnTo>
                <a:lnTo>
                  <a:pt x="0" y="2335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2756" y="819150"/>
            <a:ext cx="1370248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Exemplo De syscall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9186" t="0" r="-341497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7103" y="4114115"/>
            <a:ext cx="6053795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duvidas?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503395" y="116876"/>
            <a:ext cx="723867" cy="911824"/>
          </a:xfrm>
          <a:custGeom>
            <a:avLst/>
            <a:gdLst/>
            <a:ahLst/>
            <a:cxnLst/>
            <a:rect r="r" b="b" t="t" l="l"/>
            <a:pathLst>
              <a:path h="911824" w="723867">
                <a:moveTo>
                  <a:pt x="0" y="0"/>
                </a:moveTo>
                <a:lnTo>
                  <a:pt x="723867" y="0"/>
                </a:lnTo>
                <a:lnTo>
                  <a:pt x="723867" y="911824"/>
                </a:lnTo>
                <a:lnTo>
                  <a:pt x="0" y="91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9186" t="0" r="-34149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1554802">
            <a:off x="4906258" y="3304815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184023">
            <a:off x="6034782" y="5840283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-3070271">
            <a:off x="12657080" y="4566746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7" id="7"/>
          <p:cNvSpPr txBox="true"/>
          <p:nvPr/>
        </p:nvSpPr>
        <p:spPr>
          <a:xfrm rot="3683657">
            <a:off x="11147822" y="2617305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8" id="8"/>
          <p:cNvSpPr txBox="true"/>
          <p:nvPr/>
        </p:nvSpPr>
        <p:spPr>
          <a:xfrm rot="1404985">
            <a:off x="7056207" y="2330437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9" id="9"/>
          <p:cNvSpPr txBox="true"/>
          <p:nvPr/>
        </p:nvSpPr>
        <p:spPr>
          <a:xfrm rot="-4220851">
            <a:off x="10055197" y="6234498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  <p:sp>
        <p:nvSpPr>
          <p:cNvPr name="TextBox 10" id="10"/>
          <p:cNvSpPr txBox="true"/>
          <p:nvPr/>
        </p:nvSpPr>
        <p:spPr>
          <a:xfrm rot="570048">
            <a:off x="8228309" y="6304247"/>
            <a:ext cx="772418" cy="184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49"/>
              </a:lnSpc>
              <a:spcBef>
                <a:spcPct val="0"/>
              </a:spcBef>
            </a:pPr>
            <a:r>
              <a:rPr lang="en-US" sz="10821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DAHDNxr7wmA</dc:identifier>
  <dcterms:modified xsi:type="dcterms:W3CDTF">2011-08-01T06:04:30Z</dcterms:modified>
  <cp:revision>1</cp:revision>
  <dc:title>Texto do seu parágrafo</dc:title>
</cp:coreProperties>
</file>